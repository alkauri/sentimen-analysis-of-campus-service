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swald Bold" charset="1" panose="00000800000000000000"/>
      <p:regular r:id="rId17"/>
    </p:embeddedFont>
    <p:embeddedFont>
      <p:font typeface="Poppins" charset="1" panose="00000500000000000000"/>
      <p:regular r:id="rId18"/>
    </p:embeddedFont>
    <p:embeddedFont>
      <p:font typeface="Oswald" charset="1" panose="00000500000000000000"/>
      <p:regular r:id="rId19"/>
    </p:embeddedFont>
    <p:embeddedFont>
      <p:font typeface="Poppins Bold" charset="1" panose="00000800000000000000"/>
      <p:regular r:id="rId20"/>
    </p:embeddedFont>
    <p:embeddedFont>
      <p:font typeface="DM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13" Target="../media/image35.png" Type="http://schemas.openxmlformats.org/officeDocument/2006/relationships/image"/><Relationship Id="rId14" Target="../media/image36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495491" y="1210179"/>
            <a:ext cx="7763809" cy="7650469"/>
          </a:xfrm>
          <a:custGeom>
            <a:avLst/>
            <a:gdLst/>
            <a:ahLst/>
            <a:cxnLst/>
            <a:rect r="r" b="b" t="t" l="l"/>
            <a:pathLst>
              <a:path h="7650469" w="7763809">
                <a:moveTo>
                  <a:pt x="0" y="0"/>
                </a:moveTo>
                <a:lnTo>
                  <a:pt x="7763809" y="0"/>
                </a:lnTo>
                <a:lnTo>
                  <a:pt x="7763809" y="7650469"/>
                </a:lnTo>
                <a:lnTo>
                  <a:pt x="0" y="7650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18346" y="2546981"/>
            <a:ext cx="4321642" cy="6189852"/>
          </a:xfrm>
          <a:custGeom>
            <a:avLst/>
            <a:gdLst/>
            <a:ahLst/>
            <a:cxnLst/>
            <a:rect r="r" b="b" t="t" l="l"/>
            <a:pathLst>
              <a:path h="6189852" w="4321642">
                <a:moveTo>
                  <a:pt x="0" y="0"/>
                </a:moveTo>
                <a:lnTo>
                  <a:pt x="4321642" y="0"/>
                </a:lnTo>
                <a:lnTo>
                  <a:pt x="4321642" y="6189852"/>
                </a:lnTo>
                <a:lnTo>
                  <a:pt x="0" y="61898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43279" y="2780483"/>
            <a:ext cx="9475067" cy="386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58"/>
              </a:lnSpc>
            </a:pPr>
            <a:r>
              <a:rPr lang="en-US" b="true" sz="9579">
                <a:solidFill>
                  <a:srgbClr val="CD4146"/>
                </a:solidFill>
                <a:latin typeface="Oswald Bold"/>
                <a:ea typeface="Oswald Bold"/>
                <a:cs typeface="Oswald Bold"/>
                <a:sym typeface="Oswald Bold"/>
              </a:rPr>
              <a:t>SENTIMEN</a:t>
            </a:r>
          </a:p>
          <a:p>
            <a:pPr algn="l" marL="0" indent="0" lvl="0">
              <a:lnSpc>
                <a:spcPts val="10058"/>
              </a:lnSpc>
            </a:pPr>
            <a:r>
              <a:rPr lang="en-US" b="true" sz="9579" strike="noStrike" u="none">
                <a:solidFill>
                  <a:srgbClr val="CD4146"/>
                </a:solidFill>
                <a:latin typeface="Oswald Bold"/>
                <a:ea typeface="Oswald Bold"/>
                <a:cs typeface="Oswald Bold"/>
                <a:sym typeface="Oswald Bold"/>
              </a:rPr>
              <a:t>VS</a:t>
            </a:r>
          </a:p>
          <a:p>
            <a:pPr algn="l" marL="0" indent="0" lvl="0">
              <a:lnSpc>
                <a:spcPts val="10058"/>
              </a:lnSpc>
            </a:pPr>
            <a:r>
              <a:rPr lang="en-US" b="true" sz="9579" strike="noStrike" u="none">
                <a:solidFill>
                  <a:srgbClr val="CD4146"/>
                </a:solidFill>
                <a:latin typeface="Oswald Bold"/>
                <a:ea typeface="Oswald Bold"/>
                <a:cs typeface="Oswald Bold"/>
                <a:sym typeface="Oswald Bold"/>
              </a:rPr>
              <a:t>AKREDITASI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43279" y="6763733"/>
            <a:ext cx="7898080" cy="63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6"/>
              </a:lnSpc>
            </a:pPr>
            <a:r>
              <a:rPr lang="en-US" sz="3504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Data Science : Sentiment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52759" y="3687112"/>
            <a:ext cx="6000216" cy="4712897"/>
          </a:xfrm>
          <a:custGeom>
            <a:avLst/>
            <a:gdLst/>
            <a:ahLst/>
            <a:cxnLst/>
            <a:rect r="r" b="b" t="t" l="l"/>
            <a:pathLst>
              <a:path h="4712897" w="6000216">
                <a:moveTo>
                  <a:pt x="0" y="0"/>
                </a:moveTo>
                <a:lnTo>
                  <a:pt x="6000216" y="0"/>
                </a:lnTo>
                <a:lnTo>
                  <a:pt x="6000216" y="4712897"/>
                </a:lnTo>
                <a:lnTo>
                  <a:pt x="0" y="4712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44418" y="3261842"/>
            <a:ext cx="9080242" cy="2400755"/>
            <a:chOff x="0" y="0"/>
            <a:chExt cx="2391504" cy="632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91504" cy="632298"/>
            </a:xfrm>
            <a:custGeom>
              <a:avLst/>
              <a:gdLst/>
              <a:ahLst/>
              <a:cxnLst/>
              <a:rect r="r" b="b" t="t" l="l"/>
              <a:pathLst>
                <a:path h="632298" w="2391504">
                  <a:moveTo>
                    <a:pt x="28989" y="0"/>
                  </a:moveTo>
                  <a:lnTo>
                    <a:pt x="2362515" y="0"/>
                  </a:lnTo>
                  <a:cubicBezTo>
                    <a:pt x="2378525" y="0"/>
                    <a:pt x="2391504" y="12979"/>
                    <a:pt x="2391504" y="28989"/>
                  </a:cubicBezTo>
                  <a:lnTo>
                    <a:pt x="2391504" y="603309"/>
                  </a:lnTo>
                  <a:cubicBezTo>
                    <a:pt x="2391504" y="610997"/>
                    <a:pt x="2388450" y="618371"/>
                    <a:pt x="2383013" y="623807"/>
                  </a:cubicBezTo>
                  <a:cubicBezTo>
                    <a:pt x="2377577" y="629243"/>
                    <a:pt x="2370204" y="632298"/>
                    <a:pt x="2362515" y="632298"/>
                  </a:cubicBezTo>
                  <a:lnTo>
                    <a:pt x="28989" y="632298"/>
                  </a:lnTo>
                  <a:cubicBezTo>
                    <a:pt x="21300" y="632298"/>
                    <a:pt x="13927" y="629243"/>
                    <a:pt x="8491" y="623807"/>
                  </a:cubicBezTo>
                  <a:cubicBezTo>
                    <a:pt x="3054" y="618371"/>
                    <a:pt x="0" y="610997"/>
                    <a:pt x="0" y="603309"/>
                  </a:cubicBezTo>
                  <a:lnTo>
                    <a:pt x="0" y="28989"/>
                  </a:lnTo>
                  <a:cubicBezTo>
                    <a:pt x="0" y="21300"/>
                    <a:pt x="3054" y="13927"/>
                    <a:pt x="8491" y="8491"/>
                  </a:cubicBezTo>
                  <a:cubicBezTo>
                    <a:pt x="13927" y="3054"/>
                    <a:pt x="21300" y="0"/>
                    <a:pt x="289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391504" cy="689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35025" y="3853133"/>
            <a:ext cx="1209314" cy="1218173"/>
          </a:xfrm>
          <a:custGeom>
            <a:avLst/>
            <a:gdLst/>
            <a:ahLst/>
            <a:cxnLst/>
            <a:rect r="r" b="b" t="t" l="l"/>
            <a:pathLst>
              <a:path h="1218173" w="1209314">
                <a:moveTo>
                  <a:pt x="0" y="0"/>
                </a:moveTo>
                <a:lnTo>
                  <a:pt x="1209314" y="0"/>
                </a:lnTo>
                <a:lnTo>
                  <a:pt x="1209314" y="1218173"/>
                </a:lnTo>
                <a:lnTo>
                  <a:pt x="0" y="12181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542620" y="8101649"/>
            <a:ext cx="4782302" cy="4712487"/>
          </a:xfrm>
          <a:custGeom>
            <a:avLst/>
            <a:gdLst/>
            <a:ahLst/>
            <a:cxnLst/>
            <a:rect r="r" b="b" t="t" l="l"/>
            <a:pathLst>
              <a:path h="4712487" w="4782302">
                <a:moveTo>
                  <a:pt x="0" y="0"/>
                </a:moveTo>
                <a:lnTo>
                  <a:pt x="4782302" y="0"/>
                </a:lnTo>
                <a:lnTo>
                  <a:pt x="4782302" y="4712487"/>
                </a:lnTo>
                <a:lnTo>
                  <a:pt x="0" y="47124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44418" y="5999254"/>
            <a:ext cx="9080242" cy="2400755"/>
            <a:chOff x="0" y="0"/>
            <a:chExt cx="2391504" cy="6322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91504" cy="632298"/>
            </a:xfrm>
            <a:custGeom>
              <a:avLst/>
              <a:gdLst/>
              <a:ahLst/>
              <a:cxnLst/>
              <a:rect r="r" b="b" t="t" l="l"/>
              <a:pathLst>
                <a:path h="632298" w="2391504">
                  <a:moveTo>
                    <a:pt x="28989" y="0"/>
                  </a:moveTo>
                  <a:lnTo>
                    <a:pt x="2362515" y="0"/>
                  </a:lnTo>
                  <a:cubicBezTo>
                    <a:pt x="2378525" y="0"/>
                    <a:pt x="2391504" y="12979"/>
                    <a:pt x="2391504" y="28989"/>
                  </a:cubicBezTo>
                  <a:lnTo>
                    <a:pt x="2391504" y="603309"/>
                  </a:lnTo>
                  <a:cubicBezTo>
                    <a:pt x="2391504" y="610997"/>
                    <a:pt x="2388450" y="618371"/>
                    <a:pt x="2383013" y="623807"/>
                  </a:cubicBezTo>
                  <a:cubicBezTo>
                    <a:pt x="2377577" y="629243"/>
                    <a:pt x="2370204" y="632298"/>
                    <a:pt x="2362515" y="632298"/>
                  </a:cubicBezTo>
                  <a:lnTo>
                    <a:pt x="28989" y="632298"/>
                  </a:lnTo>
                  <a:cubicBezTo>
                    <a:pt x="21300" y="632298"/>
                    <a:pt x="13927" y="629243"/>
                    <a:pt x="8491" y="623807"/>
                  </a:cubicBezTo>
                  <a:cubicBezTo>
                    <a:pt x="3054" y="618371"/>
                    <a:pt x="0" y="610997"/>
                    <a:pt x="0" y="603309"/>
                  </a:cubicBezTo>
                  <a:lnTo>
                    <a:pt x="0" y="28989"/>
                  </a:lnTo>
                  <a:cubicBezTo>
                    <a:pt x="0" y="21300"/>
                    <a:pt x="3054" y="13927"/>
                    <a:pt x="8491" y="8491"/>
                  </a:cubicBezTo>
                  <a:cubicBezTo>
                    <a:pt x="13927" y="3054"/>
                    <a:pt x="21300" y="0"/>
                    <a:pt x="289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391504" cy="689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601315" y="6590545"/>
            <a:ext cx="1252328" cy="1218173"/>
          </a:xfrm>
          <a:custGeom>
            <a:avLst/>
            <a:gdLst/>
            <a:ahLst/>
            <a:cxnLst/>
            <a:rect r="r" b="b" t="t" l="l"/>
            <a:pathLst>
              <a:path h="1218173" w="1252328">
                <a:moveTo>
                  <a:pt x="0" y="0"/>
                </a:moveTo>
                <a:lnTo>
                  <a:pt x="1252328" y="0"/>
                </a:lnTo>
                <a:lnTo>
                  <a:pt x="1252328" y="1218173"/>
                </a:lnTo>
                <a:lnTo>
                  <a:pt x="0" y="12181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4295549" y="1580736"/>
            <a:ext cx="9696902" cy="116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Latar Belakang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62500" y="3422464"/>
            <a:ext cx="6791142" cy="202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</a:pPr>
            <a:r>
              <a:rPr lang="en-US" sz="1896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Universitas Andalas (Unand) saat ini memiliki akreditasi institusi “Unggul” dari BAN-PT, berlaku hingga tahun 2028. Status ini merupakan pengakuan tertinggi atas kualitas pendidikan, tata kelola, dan layanan kampus. Secara administratif, Unand dinilai memenuhi standar terbaik dalam sistem pendidikan tinggi nasional.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57743" y="6048318"/>
            <a:ext cx="6166190" cy="225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9"/>
              </a:lnSpc>
            </a:pPr>
            <a:r>
              <a:rPr lang="en-US" sz="1835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Namun, di era digital, reputasi kampus tidak hanya dibentuk oleh penilaian lembaga resmi, tetapi juga oleh persepsi publik di media sosial: komentar mahasiswa, alumni, dan masyarakat umum. Suara publik ini seringkali mencerminkan pengalaman nyata yang tidak selalu terekam dalam dokumen akreditasi.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652975" y="2105976"/>
            <a:ext cx="4782302" cy="4712487"/>
          </a:xfrm>
          <a:custGeom>
            <a:avLst/>
            <a:gdLst/>
            <a:ahLst/>
            <a:cxnLst/>
            <a:rect r="r" b="b" t="t" l="l"/>
            <a:pathLst>
              <a:path h="4712487" w="4782302">
                <a:moveTo>
                  <a:pt x="0" y="0"/>
                </a:moveTo>
                <a:lnTo>
                  <a:pt x="4782302" y="0"/>
                </a:lnTo>
                <a:lnTo>
                  <a:pt x="4782302" y="4712487"/>
                </a:lnTo>
                <a:lnTo>
                  <a:pt x="0" y="47124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24413" y="2123481"/>
            <a:ext cx="7060104" cy="6957037"/>
          </a:xfrm>
          <a:custGeom>
            <a:avLst/>
            <a:gdLst/>
            <a:ahLst/>
            <a:cxnLst/>
            <a:rect r="r" b="b" t="t" l="l"/>
            <a:pathLst>
              <a:path h="6957037" w="7060104">
                <a:moveTo>
                  <a:pt x="0" y="0"/>
                </a:moveTo>
                <a:lnTo>
                  <a:pt x="7060104" y="0"/>
                </a:lnTo>
                <a:lnTo>
                  <a:pt x="7060104" y="6957037"/>
                </a:lnTo>
                <a:lnTo>
                  <a:pt x="0" y="6957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40872" y="1291804"/>
            <a:ext cx="9963931" cy="7703391"/>
            <a:chOff x="0" y="0"/>
            <a:chExt cx="2624245" cy="20288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24245" cy="2028877"/>
            </a:xfrm>
            <a:custGeom>
              <a:avLst/>
              <a:gdLst/>
              <a:ahLst/>
              <a:cxnLst/>
              <a:rect r="r" b="b" t="t" l="l"/>
              <a:pathLst>
                <a:path h="2028877" w="2624245">
                  <a:moveTo>
                    <a:pt x="39627" y="0"/>
                  </a:moveTo>
                  <a:lnTo>
                    <a:pt x="2584619" y="0"/>
                  </a:lnTo>
                  <a:cubicBezTo>
                    <a:pt x="2595128" y="0"/>
                    <a:pt x="2605207" y="4175"/>
                    <a:pt x="2612639" y="11606"/>
                  </a:cubicBezTo>
                  <a:cubicBezTo>
                    <a:pt x="2620070" y="19038"/>
                    <a:pt x="2624245" y="29117"/>
                    <a:pt x="2624245" y="39627"/>
                  </a:cubicBezTo>
                  <a:lnTo>
                    <a:pt x="2624245" y="1989250"/>
                  </a:lnTo>
                  <a:cubicBezTo>
                    <a:pt x="2624245" y="1999760"/>
                    <a:pt x="2620070" y="2009839"/>
                    <a:pt x="2612639" y="2017270"/>
                  </a:cubicBezTo>
                  <a:cubicBezTo>
                    <a:pt x="2605207" y="2024702"/>
                    <a:pt x="2595128" y="2028877"/>
                    <a:pt x="2584619" y="2028877"/>
                  </a:cubicBezTo>
                  <a:lnTo>
                    <a:pt x="39627" y="2028877"/>
                  </a:lnTo>
                  <a:cubicBezTo>
                    <a:pt x="17741" y="2028877"/>
                    <a:pt x="0" y="2011135"/>
                    <a:pt x="0" y="1989250"/>
                  </a:cubicBezTo>
                  <a:lnTo>
                    <a:pt x="0" y="39627"/>
                  </a:lnTo>
                  <a:cubicBezTo>
                    <a:pt x="0" y="29117"/>
                    <a:pt x="4175" y="19038"/>
                    <a:pt x="11606" y="11606"/>
                  </a:cubicBezTo>
                  <a:cubicBezTo>
                    <a:pt x="19038" y="4175"/>
                    <a:pt x="29117" y="0"/>
                    <a:pt x="396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624245" cy="2086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176813" y="3127841"/>
            <a:ext cx="5955305" cy="4948317"/>
          </a:xfrm>
          <a:custGeom>
            <a:avLst/>
            <a:gdLst/>
            <a:ahLst/>
            <a:cxnLst/>
            <a:rect r="r" b="b" t="t" l="l"/>
            <a:pathLst>
              <a:path h="4948317" w="5955305">
                <a:moveTo>
                  <a:pt x="0" y="0"/>
                </a:moveTo>
                <a:lnTo>
                  <a:pt x="5955304" y="0"/>
                </a:lnTo>
                <a:lnTo>
                  <a:pt x="5955304" y="4948317"/>
                </a:lnTo>
                <a:lnTo>
                  <a:pt x="0" y="49483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73296" y="2160677"/>
            <a:ext cx="9696902" cy="116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Rumusan Masalah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36824" y="3654368"/>
            <a:ext cx="6607176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Apakah p</a:t>
            </a:r>
            <a:r>
              <a:rPr lang="en-US" sz="27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ersepsi publik (mahasiswa, alumni, masyarakat) di media sosial sesuai dengan akreditasi "Unggul" ini?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36824" y="6099500"/>
            <a:ext cx="6607176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Sentimen apa yang paling dominan dalam percakapan publik tentang Unand?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33266" y="3730568"/>
            <a:ext cx="699655" cy="69965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42694" y="6175700"/>
            <a:ext cx="699655" cy="69965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02394" y="3782429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2394" y="6227560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67170" y="-3194657"/>
            <a:ext cx="6637037" cy="6540146"/>
          </a:xfrm>
          <a:custGeom>
            <a:avLst/>
            <a:gdLst/>
            <a:ahLst/>
            <a:cxnLst/>
            <a:rect r="r" b="b" t="t" l="l"/>
            <a:pathLst>
              <a:path h="6540146" w="6637037">
                <a:moveTo>
                  <a:pt x="0" y="0"/>
                </a:moveTo>
                <a:lnTo>
                  <a:pt x="6637037" y="0"/>
                </a:lnTo>
                <a:lnTo>
                  <a:pt x="6637037" y="6540146"/>
                </a:lnTo>
                <a:lnTo>
                  <a:pt x="0" y="654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388608" y="6714885"/>
            <a:ext cx="6637037" cy="6540146"/>
          </a:xfrm>
          <a:custGeom>
            <a:avLst/>
            <a:gdLst/>
            <a:ahLst/>
            <a:cxnLst/>
            <a:rect r="r" b="b" t="t" l="l"/>
            <a:pathLst>
              <a:path h="6540146" w="6637037">
                <a:moveTo>
                  <a:pt x="0" y="0"/>
                </a:moveTo>
                <a:lnTo>
                  <a:pt x="6637037" y="0"/>
                </a:lnTo>
                <a:lnTo>
                  <a:pt x="6637037" y="6540146"/>
                </a:lnTo>
                <a:lnTo>
                  <a:pt x="0" y="654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13433" y="1028700"/>
            <a:ext cx="16661135" cy="8229600"/>
            <a:chOff x="0" y="0"/>
            <a:chExt cx="4388118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8118" cy="2167467"/>
            </a:xfrm>
            <a:custGeom>
              <a:avLst/>
              <a:gdLst/>
              <a:ahLst/>
              <a:cxnLst/>
              <a:rect r="r" b="b" t="t" l="l"/>
              <a:pathLst>
                <a:path h="2167467" w="4388118">
                  <a:moveTo>
                    <a:pt x="23698" y="0"/>
                  </a:moveTo>
                  <a:lnTo>
                    <a:pt x="4364420" y="0"/>
                  </a:lnTo>
                  <a:cubicBezTo>
                    <a:pt x="4370705" y="0"/>
                    <a:pt x="4376732" y="2497"/>
                    <a:pt x="4381177" y="6941"/>
                  </a:cubicBezTo>
                  <a:cubicBezTo>
                    <a:pt x="4385621" y="11385"/>
                    <a:pt x="4388118" y="17413"/>
                    <a:pt x="4388118" y="23698"/>
                  </a:cubicBezTo>
                  <a:lnTo>
                    <a:pt x="4388118" y="2143769"/>
                  </a:lnTo>
                  <a:cubicBezTo>
                    <a:pt x="4388118" y="2156857"/>
                    <a:pt x="4377508" y="2167467"/>
                    <a:pt x="4364420" y="2167467"/>
                  </a:cubicBezTo>
                  <a:lnTo>
                    <a:pt x="23698" y="2167467"/>
                  </a:lnTo>
                  <a:cubicBezTo>
                    <a:pt x="17413" y="2167467"/>
                    <a:pt x="11385" y="2164970"/>
                    <a:pt x="6941" y="2160526"/>
                  </a:cubicBezTo>
                  <a:cubicBezTo>
                    <a:pt x="2497" y="2156081"/>
                    <a:pt x="0" y="2150054"/>
                    <a:pt x="0" y="2143769"/>
                  </a:cubicBezTo>
                  <a:lnTo>
                    <a:pt x="0" y="23698"/>
                  </a:lnTo>
                  <a:cubicBezTo>
                    <a:pt x="0" y="10610"/>
                    <a:pt x="10610" y="0"/>
                    <a:pt x="236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388118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565820" y="1091183"/>
            <a:ext cx="9156360" cy="225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13"/>
              </a:lnSpc>
              <a:spcBef>
                <a:spcPct val="0"/>
              </a:spcBef>
            </a:pPr>
            <a:r>
              <a:rPr lang="en-US" sz="643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Kontribusi Masing-Masing Anggota Tim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00759" y="3727553"/>
            <a:ext cx="5360315" cy="50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M. Zuhri Al Kauri_G1A023029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00759" y="4326564"/>
            <a:ext cx="557862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Program Sentiment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00759" y="6206799"/>
            <a:ext cx="5578628" cy="50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Ghazi Al-Ghifari_G1A023053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00759" y="6805810"/>
            <a:ext cx="4571648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Mengolah hasil Sentiment Analysis dan membandingkannya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31605" y="3727553"/>
            <a:ext cx="7306387" cy="50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I Nyoman Dimas Kresna A._G1A023077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31605" y="4326564"/>
            <a:ext cx="630022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Crawling Data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Reprocessing Data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48774" y="3813278"/>
            <a:ext cx="699655" cy="69965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48774" y="6292524"/>
            <a:ext cx="699655" cy="69965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0" y="3813278"/>
            <a:ext cx="699655" cy="69965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517902" y="3865138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08475" y="6344384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03700" y="3865138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51487" y="7961893"/>
            <a:ext cx="5415627" cy="5336567"/>
          </a:xfrm>
          <a:custGeom>
            <a:avLst/>
            <a:gdLst/>
            <a:ahLst/>
            <a:cxnLst/>
            <a:rect r="r" b="b" t="t" l="l"/>
            <a:pathLst>
              <a:path h="5336567" w="5415627">
                <a:moveTo>
                  <a:pt x="0" y="0"/>
                </a:moveTo>
                <a:lnTo>
                  <a:pt x="5415626" y="0"/>
                </a:lnTo>
                <a:lnTo>
                  <a:pt x="5415626" y="5336567"/>
                </a:lnTo>
                <a:lnTo>
                  <a:pt x="0" y="5336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406899" y="3213509"/>
            <a:ext cx="13474202" cy="5601781"/>
            <a:chOff x="0" y="0"/>
            <a:chExt cx="3548761" cy="14753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48761" cy="1475366"/>
            </a:xfrm>
            <a:custGeom>
              <a:avLst/>
              <a:gdLst/>
              <a:ahLst/>
              <a:cxnLst/>
              <a:rect r="r" b="b" t="t" l="l"/>
              <a:pathLst>
                <a:path h="1475366" w="3548761">
                  <a:moveTo>
                    <a:pt x="29303" y="0"/>
                  </a:moveTo>
                  <a:lnTo>
                    <a:pt x="3519458" y="0"/>
                  </a:lnTo>
                  <a:cubicBezTo>
                    <a:pt x="3527229" y="0"/>
                    <a:pt x="3534683" y="3087"/>
                    <a:pt x="3540178" y="8583"/>
                  </a:cubicBezTo>
                  <a:cubicBezTo>
                    <a:pt x="3545673" y="14078"/>
                    <a:pt x="3548761" y="21532"/>
                    <a:pt x="3548761" y="29303"/>
                  </a:cubicBezTo>
                  <a:lnTo>
                    <a:pt x="3548761" y="1446063"/>
                  </a:lnTo>
                  <a:cubicBezTo>
                    <a:pt x="3548761" y="1453835"/>
                    <a:pt x="3545673" y="1461288"/>
                    <a:pt x="3540178" y="1466783"/>
                  </a:cubicBezTo>
                  <a:cubicBezTo>
                    <a:pt x="3534683" y="1472279"/>
                    <a:pt x="3527229" y="1475366"/>
                    <a:pt x="3519458" y="1475366"/>
                  </a:cubicBezTo>
                  <a:lnTo>
                    <a:pt x="29303" y="1475366"/>
                  </a:lnTo>
                  <a:cubicBezTo>
                    <a:pt x="21532" y="1475366"/>
                    <a:pt x="14078" y="1472279"/>
                    <a:pt x="8583" y="1466783"/>
                  </a:cubicBezTo>
                  <a:cubicBezTo>
                    <a:pt x="3087" y="1461288"/>
                    <a:pt x="0" y="1453835"/>
                    <a:pt x="0" y="1446063"/>
                  </a:cubicBezTo>
                  <a:lnTo>
                    <a:pt x="0" y="29303"/>
                  </a:lnTo>
                  <a:cubicBezTo>
                    <a:pt x="0" y="21532"/>
                    <a:pt x="3087" y="14078"/>
                    <a:pt x="8583" y="8583"/>
                  </a:cubicBezTo>
                  <a:cubicBezTo>
                    <a:pt x="14078" y="3087"/>
                    <a:pt x="21532" y="0"/>
                    <a:pt x="293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548761" cy="1532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776591" y="3724084"/>
            <a:ext cx="5751935" cy="4580632"/>
          </a:xfrm>
          <a:custGeom>
            <a:avLst/>
            <a:gdLst/>
            <a:ahLst/>
            <a:cxnLst/>
            <a:rect r="r" b="b" t="t" l="l"/>
            <a:pathLst>
              <a:path h="4580632" w="5751935">
                <a:moveTo>
                  <a:pt x="0" y="0"/>
                </a:moveTo>
                <a:lnTo>
                  <a:pt x="5751935" y="0"/>
                </a:lnTo>
                <a:lnTo>
                  <a:pt x="5751935" y="4580632"/>
                </a:lnTo>
                <a:lnTo>
                  <a:pt x="0" y="45806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H="true" flipV="true">
            <a:off x="9134475" y="3213509"/>
            <a:ext cx="9525" cy="5601781"/>
          </a:xfrm>
          <a:prstGeom prst="line">
            <a:avLst/>
          </a:prstGeom>
          <a:ln cap="flat" w="19050">
            <a:solidFill>
              <a:srgbClr val="CD41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295549" y="1382464"/>
            <a:ext cx="9696902" cy="115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45"/>
              </a:lnSpc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Apa itu Sentiment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26779" y="3666934"/>
            <a:ext cx="5763110" cy="260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Proses menggunakan teknik pemrosesan bahasa alami (Natural Language Processing / NLP), analisis teks, dan pembelajaran mesin (machine learning) untuk mengidentifikasi, mengekstraksi, dan mengklasifikasikan pendapat atau emosi yang terkandung dalam sebuah teks.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26779" y="6443531"/>
            <a:ext cx="5763110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Secara sederhana, sentiment analysis bertujuan untuk mengetahui apakah suatu teks bersifat positif, negatif, atau netral.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2639035" y="-2668283"/>
            <a:ext cx="5415627" cy="5336567"/>
          </a:xfrm>
          <a:custGeom>
            <a:avLst/>
            <a:gdLst/>
            <a:ahLst/>
            <a:cxnLst/>
            <a:rect r="r" b="b" t="t" l="l"/>
            <a:pathLst>
              <a:path h="5336567" w="5415627">
                <a:moveTo>
                  <a:pt x="0" y="0"/>
                </a:moveTo>
                <a:lnTo>
                  <a:pt x="5415626" y="0"/>
                </a:lnTo>
                <a:lnTo>
                  <a:pt x="5415626" y="5336566"/>
                </a:lnTo>
                <a:lnTo>
                  <a:pt x="0" y="533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67170" y="-3194657"/>
            <a:ext cx="6637037" cy="6540146"/>
          </a:xfrm>
          <a:custGeom>
            <a:avLst/>
            <a:gdLst/>
            <a:ahLst/>
            <a:cxnLst/>
            <a:rect r="r" b="b" t="t" l="l"/>
            <a:pathLst>
              <a:path h="6540146" w="6637037">
                <a:moveTo>
                  <a:pt x="0" y="0"/>
                </a:moveTo>
                <a:lnTo>
                  <a:pt x="6637037" y="0"/>
                </a:lnTo>
                <a:lnTo>
                  <a:pt x="6637037" y="6540146"/>
                </a:lnTo>
                <a:lnTo>
                  <a:pt x="0" y="654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388608" y="6714885"/>
            <a:ext cx="6637037" cy="6540146"/>
          </a:xfrm>
          <a:custGeom>
            <a:avLst/>
            <a:gdLst/>
            <a:ahLst/>
            <a:cxnLst/>
            <a:rect r="r" b="b" t="t" l="l"/>
            <a:pathLst>
              <a:path h="6540146" w="6637037">
                <a:moveTo>
                  <a:pt x="0" y="0"/>
                </a:moveTo>
                <a:lnTo>
                  <a:pt x="6637037" y="0"/>
                </a:lnTo>
                <a:lnTo>
                  <a:pt x="6637037" y="6540146"/>
                </a:lnTo>
                <a:lnTo>
                  <a:pt x="0" y="654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13433" y="1028700"/>
            <a:ext cx="16661135" cy="8229600"/>
            <a:chOff x="0" y="0"/>
            <a:chExt cx="4388118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8118" cy="2167467"/>
            </a:xfrm>
            <a:custGeom>
              <a:avLst/>
              <a:gdLst/>
              <a:ahLst/>
              <a:cxnLst/>
              <a:rect r="r" b="b" t="t" l="l"/>
              <a:pathLst>
                <a:path h="2167467" w="4388118">
                  <a:moveTo>
                    <a:pt x="23698" y="0"/>
                  </a:moveTo>
                  <a:lnTo>
                    <a:pt x="4364420" y="0"/>
                  </a:lnTo>
                  <a:cubicBezTo>
                    <a:pt x="4370705" y="0"/>
                    <a:pt x="4376732" y="2497"/>
                    <a:pt x="4381177" y="6941"/>
                  </a:cubicBezTo>
                  <a:cubicBezTo>
                    <a:pt x="4385621" y="11385"/>
                    <a:pt x="4388118" y="17413"/>
                    <a:pt x="4388118" y="23698"/>
                  </a:cubicBezTo>
                  <a:lnTo>
                    <a:pt x="4388118" y="2143769"/>
                  </a:lnTo>
                  <a:cubicBezTo>
                    <a:pt x="4388118" y="2156857"/>
                    <a:pt x="4377508" y="2167467"/>
                    <a:pt x="4364420" y="2167467"/>
                  </a:cubicBezTo>
                  <a:lnTo>
                    <a:pt x="23698" y="2167467"/>
                  </a:lnTo>
                  <a:cubicBezTo>
                    <a:pt x="17413" y="2167467"/>
                    <a:pt x="11385" y="2164970"/>
                    <a:pt x="6941" y="2160526"/>
                  </a:cubicBezTo>
                  <a:cubicBezTo>
                    <a:pt x="2497" y="2156081"/>
                    <a:pt x="0" y="2150054"/>
                    <a:pt x="0" y="2143769"/>
                  </a:cubicBezTo>
                  <a:lnTo>
                    <a:pt x="0" y="23698"/>
                  </a:lnTo>
                  <a:cubicBezTo>
                    <a:pt x="0" y="10610"/>
                    <a:pt x="10610" y="0"/>
                    <a:pt x="236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388118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95549" y="1481728"/>
            <a:ext cx="9696902" cy="116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Metodologi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00759" y="3727553"/>
            <a:ext cx="3483279" cy="50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2787" strike="noStrike" u="non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ata Collection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00759" y="4326564"/>
            <a:ext cx="5578628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Mengambil 4.573 data teks (ulasan/tweet/komentar) publik terkait Unand.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00759" y="6206799"/>
            <a:ext cx="3673967" cy="50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Preprocessing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00759" y="6805810"/>
            <a:ext cx="5578628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Teks dibersihkan dari noise (simbol, link) dan dinormalisasi (menggunakan stemming Bahasa Indonesia).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9302" y="3727553"/>
            <a:ext cx="3483279" cy="50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Model Analisis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9302" y="4326564"/>
            <a:ext cx="6300223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Menggunakan model IndoBERT, model deep learning yang sudah dilatih untuk memahami konteks sentimen Bahasa Indonesia.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48774" y="3813278"/>
            <a:ext cx="699655" cy="69965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48774" y="6292524"/>
            <a:ext cx="699655" cy="69965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92902" y="3813278"/>
            <a:ext cx="699655" cy="69965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517902" y="3865138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08475" y="6344384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52603" y="3865138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05339" y="6293632"/>
            <a:ext cx="6017177" cy="5929335"/>
          </a:xfrm>
          <a:custGeom>
            <a:avLst/>
            <a:gdLst/>
            <a:ahLst/>
            <a:cxnLst/>
            <a:rect r="r" b="b" t="t" l="l"/>
            <a:pathLst>
              <a:path h="5929335" w="6017177">
                <a:moveTo>
                  <a:pt x="0" y="0"/>
                </a:moveTo>
                <a:lnTo>
                  <a:pt x="6017177" y="0"/>
                </a:lnTo>
                <a:lnTo>
                  <a:pt x="6017177" y="5929336"/>
                </a:lnTo>
                <a:lnTo>
                  <a:pt x="0" y="59293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61792" y="-1069654"/>
            <a:ext cx="4258882" cy="4196709"/>
          </a:xfrm>
          <a:custGeom>
            <a:avLst/>
            <a:gdLst/>
            <a:ahLst/>
            <a:cxnLst/>
            <a:rect r="r" b="b" t="t" l="l"/>
            <a:pathLst>
              <a:path h="4196709" w="4258882">
                <a:moveTo>
                  <a:pt x="0" y="0"/>
                </a:moveTo>
                <a:lnTo>
                  <a:pt x="4258883" y="0"/>
                </a:lnTo>
                <a:lnTo>
                  <a:pt x="4258883" y="4196708"/>
                </a:lnTo>
                <a:lnTo>
                  <a:pt x="0" y="4196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68345" y="1182705"/>
            <a:ext cx="17151310" cy="7921590"/>
            <a:chOff x="0" y="0"/>
            <a:chExt cx="4517218" cy="20863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17218" cy="2086345"/>
            </a:xfrm>
            <a:custGeom>
              <a:avLst/>
              <a:gdLst/>
              <a:ahLst/>
              <a:cxnLst/>
              <a:rect r="r" b="b" t="t" l="l"/>
              <a:pathLst>
                <a:path h="2086345" w="4517218">
                  <a:moveTo>
                    <a:pt x="15347" y="0"/>
                  </a:moveTo>
                  <a:lnTo>
                    <a:pt x="4501871" y="0"/>
                  </a:lnTo>
                  <a:cubicBezTo>
                    <a:pt x="4510346" y="0"/>
                    <a:pt x="4517218" y="6871"/>
                    <a:pt x="4517218" y="15347"/>
                  </a:cubicBezTo>
                  <a:lnTo>
                    <a:pt x="4517218" y="2070997"/>
                  </a:lnTo>
                  <a:cubicBezTo>
                    <a:pt x="4517218" y="2075068"/>
                    <a:pt x="4515601" y="2078972"/>
                    <a:pt x="4512723" y="2081850"/>
                  </a:cubicBezTo>
                  <a:cubicBezTo>
                    <a:pt x="4509844" y="2084728"/>
                    <a:pt x="4505941" y="2086345"/>
                    <a:pt x="4501871" y="2086345"/>
                  </a:cubicBezTo>
                  <a:lnTo>
                    <a:pt x="15347" y="2086345"/>
                  </a:lnTo>
                  <a:cubicBezTo>
                    <a:pt x="11277" y="2086345"/>
                    <a:pt x="7373" y="2084728"/>
                    <a:pt x="4495" y="2081850"/>
                  </a:cubicBezTo>
                  <a:cubicBezTo>
                    <a:pt x="1617" y="2078972"/>
                    <a:pt x="0" y="2075068"/>
                    <a:pt x="0" y="2070997"/>
                  </a:cubicBezTo>
                  <a:lnTo>
                    <a:pt x="0" y="15347"/>
                  </a:lnTo>
                  <a:cubicBezTo>
                    <a:pt x="0" y="11277"/>
                    <a:pt x="1617" y="7373"/>
                    <a:pt x="4495" y="4495"/>
                  </a:cubicBezTo>
                  <a:cubicBezTo>
                    <a:pt x="7373" y="1617"/>
                    <a:pt x="11277" y="0"/>
                    <a:pt x="153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517218" cy="2143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71784" y="4638471"/>
            <a:ext cx="825775" cy="82577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32198" y="4790833"/>
            <a:ext cx="504945" cy="521050"/>
          </a:xfrm>
          <a:custGeom>
            <a:avLst/>
            <a:gdLst/>
            <a:ahLst/>
            <a:cxnLst/>
            <a:rect r="r" b="b" t="t" l="l"/>
            <a:pathLst>
              <a:path h="521050" w="504945">
                <a:moveTo>
                  <a:pt x="0" y="0"/>
                </a:moveTo>
                <a:lnTo>
                  <a:pt x="504946" y="0"/>
                </a:lnTo>
                <a:lnTo>
                  <a:pt x="504946" y="521050"/>
                </a:lnTo>
                <a:lnTo>
                  <a:pt x="0" y="521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1271784" y="5977217"/>
            <a:ext cx="825775" cy="82577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61948" y="6145551"/>
            <a:ext cx="604097" cy="487671"/>
          </a:xfrm>
          <a:custGeom>
            <a:avLst/>
            <a:gdLst/>
            <a:ahLst/>
            <a:cxnLst/>
            <a:rect r="r" b="b" t="t" l="l"/>
            <a:pathLst>
              <a:path h="487671" w="604097">
                <a:moveTo>
                  <a:pt x="0" y="0"/>
                </a:moveTo>
                <a:lnTo>
                  <a:pt x="604098" y="0"/>
                </a:lnTo>
                <a:lnTo>
                  <a:pt x="604098" y="487671"/>
                </a:lnTo>
                <a:lnTo>
                  <a:pt x="0" y="4876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" id="16"/>
          <p:cNvGrpSpPr/>
          <p:nvPr/>
        </p:nvGrpSpPr>
        <p:grpSpPr>
          <a:xfrm rot="0">
            <a:off x="1271784" y="7314527"/>
            <a:ext cx="825775" cy="82577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03296" y="7496176"/>
            <a:ext cx="562750" cy="462478"/>
          </a:xfrm>
          <a:custGeom>
            <a:avLst/>
            <a:gdLst/>
            <a:ahLst/>
            <a:cxnLst/>
            <a:rect r="r" b="b" t="t" l="l"/>
            <a:pathLst>
              <a:path h="462478" w="562750">
                <a:moveTo>
                  <a:pt x="0" y="0"/>
                </a:moveTo>
                <a:lnTo>
                  <a:pt x="562750" y="0"/>
                </a:lnTo>
                <a:lnTo>
                  <a:pt x="562750" y="462477"/>
                </a:lnTo>
                <a:lnTo>
                  <a:pt x="0" y="4624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0103369" y="3712570"/>
            <a:ext cx="7155931" cy="4427732"/>
          </a:xfrm>
          <a:custGeom>
            <a:avLst/>
            <a:gdLst/>
            <a:ahLst/>
            <a:cxnLst/>
            <a:rect r="r" b="b" t="t" l="l"/>
            <a:pathLst>
              <a:path h="4427732" w="7155931">
                <a:moveTo>
                  <a:pt x="0" y="0"/>
                </a:moveTo>
                <a:lnTo>
                  <a:pt x="7155931" y="0"/>
                </a:lnTo>
                <a:lnTo>
                  <a:pt x="7155931" y="4427732"/>
                </a:lnTo>
                <a:lnTo>
                  <a:pt x="0" y="44277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295549" y="1731724"/>
            <a:ext cx="9696902" cy="116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Grafik Sentimen UNAND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97091" y="4463666"/>
            <a:ext cx="7411003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Sentimen Positif (940)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Publik menilai Unand secara positif, terutama dalam aspek akademik, reputasi, dan prestasi mahasiswa.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97091" y="5802412"/>
            <a:ext cx="7411003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Sentimen Netral (3.016)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Mayoritas pembicaraan bersifat informatif atau diskusi tanpa opini emosional.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97091" y="7139722"/>
            <a:ext cx="7411003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Sentimen Negatif (623)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Masih ada keluhan terkait layanan administratif, fasilitas, dan sistem internal kampus.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68430" y="1829003"/>
            <a:ext cx="9890870" cy="7429297"/>
            <a:chOff x="0" y="0"/>
            <a:chExt cx="2605003" cy="19566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05003" cy="1956687"/>
            </a:xfrm>
            <a:custGeom>
              <a:avLst/>
              <a:gdLst/>
              <a:ahLst/>
              <a:cxnLst/>
              <a:rect r="r" b="b" t="t" l="l"/>
              <a:pathLst>
                <a:path h="1956687" w="2605003">
                  <a:moveTo>
                    <a:pt x="26613" y="0"/>
                  </a:moveTo>
                  <a:lnTo>
                    <a:pt x="2578390" y="0"/>
                  </a:lnTo>
                  <a:cubicBezTo>
                    <a:pt x="2593088" y="0"/>
                    <a:pt x="2605003" y="11915"/>
                    <a:pt x="2605003" y="26613"/>
                  </a:cubicBezTo>
                  <a:lnTo>
                    <a:pt x="2605003" y="1930074"/>
                  </a:lnTo>
                  <a:cubicBezTo>
                    <a:pt x="2605003" y="1937133"/>
                    <a:pt x="2602199" y="1943902"/>
                    <a:pt x="2597208" y="1948893"/>
                  </a:cubicBezTo>
                  <a:cubicBezTo>
                    <a:pt x="2592217" y="1953883"/>
                    <a:pt x="2585448" y="1956687"/>
                    <a:pt x="2578390" y="1956687"/>
                  </a:cubicBezTo>
                  <a:lnTo>
                    <a:pt x="26613" y="1956687"/>
                  </a:lnTo>
                  <a:cubicBezTo>
                    <a:pt x="11915" y="1956687"/>
                    <a:pt x="0" y="1944772"/>
                    <a:pt x="0" y="1930074"/>
                  </a:cubicBezTo>
                  <a:lnTo>
                    <a:pt x="0" y="26613"/>
                  </a:lnTo>
                  <a:cubicBezTo>
                    <a:pt x="0" y="11915"/>
                    <a:pt x="11915" y="0"/>
                    <a:pt x="266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605003" cy="2013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14276" y="2466765"/>
            <a:ext cx="7588549" cy="176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Analisis</a:t>
            </a:r>
          </a:p>
          <a:p>
            <a:pPr algn="l" marL="0" indent="0" lvl="0">
              <a:lnSpc>
                <a:spcPts val="6750"/>
              </a:lnSpc>
              <a:spcBef>
                <a:spcPct val="0"/>
              </a:spcBef>
            </a:pPr>
            <a:r>
              <a:rPr lang="en-US" sz="6818" strike="noStrike" u="none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dan Pembahasan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4694285"/>
            <a:ext cx="7743827" cy="1141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9"/>
              </a:lnSpc>
            </a:pPr>
            <a:r>
              <a:rPr lang="en-US" sz="1635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Persepsi Publik Mendukung Akreditasi</a:t>
            </a:r>
          </a:p>
          <a:p>
            <a:pPr algn="just">
              <a:lnSpc>
                <a:spcPts val="2289"/>
              </a:lnSpc>
            </a:pPr>
            <a:r>
              <a:rPr lang="en-US" sz="1635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Hasil analisis menunjukkan sentimen positif (940) lebih tinggi dibanding sentimen negatif (623). Menandakan bahwa citra Universitas Andalas di ruang publik sejalan dengan akreditasi “Unggul” dari BAN-PT.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154576" y="4732385"/>
            <a:ext cx="699655" cy="6996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114276" y="4784245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5998489"/>
            <a:ext cx="7837565" cy="113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94"/>
              </a:lnSpc>
            </a:pPr>
            <a:r>
              <a:rPr lang="en-US" sz="1639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Mayoritas Netral (3.016)</a:t>
            </a:r>
          </a:p>
          <a:p>
            <a:pPr algn="just">
              <a:lnSpc>
                <a:spcPts val="2294"/>
              </a:lnSpc>
            </a:pPr>
            <a:r>
              <a:rPr lang="en-US" sz="163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Sebagian besar percakapan bersifat informatif atau berita kampus, bukan opini pribadi. Menunjukkan keterlibatan publik yang tinggi, namun tidak selalu emosional.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194876" y="6072568"/>
            <a:ext cx="699655" cy="69965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154576" y="6124428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7371778"/>
            <a:ext cx="7690649" cy="1139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92"/>
              </a:lnSpc>
            </a:pPr>
            <a:r>
              <a:rPr lang="en-US" sz="1637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“Celah” Umpan Balik – 623 Sentimen Negatif</a:t>
            </a:r>
          </a:p>
          <a:p>
            <a:pPr algn="just">
              <a:lnSpc>
                <a:spcPts val="2292"/>
              </a:lnSpc>
            </a:pPr>
            <a:r>
              <a:rPr lang="en-US" sz="1637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Masukan negatif mencerminkan area perbaikan nyata, seperti layanan akademik, fasilitas kampus, dan sistem administrasi. Data ini bisa menjadi sumber evaluasi strategis untuk peningkatan mutu layanan.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154576" y="7409878"/>
            <a:ext cx="699655" cy="69965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114276" y="7461738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92967" y="3107900"/>
            <a:ext cx="6017177" cy="5929335"/>
          </a:xfrm>
          <a:custGeom>
            <a:avLst/>
            <a:gdLst/>
            <a:ahLst/>
            <a:cxnLst/>
            <a:rect r="r" b="b" t="t" l="l"/>
            <a:pathLst>
              <a:path h="5929335" w="6017177">
                <a:moveTo>
                  <a:pt x="0" y="0"/>
                </a:moveTo>
                <a:lnTo>
                  <a:pt x="6017178" y="0"/>
                </a:lnTo>
                <a:lnTo>
                  <a:pt x="6017178" y="5929335"/>
                </a:lnTo>
                <a:lnTo>
                  <a:pt x="0" y="5929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28700" y="2153885"/>
            <a:ext cx="5745712" cy="6556310"/>
          </a:xfrm>
          <a:custGeom>
            <a:avLst/>
            <a:gdLst/>
            <a:ahLst/>
            <a:cxnLst/>
            <a:rect r="r" b="b" t="t" l="l"/>
            <a:pathLst>
              <a:path h="6556310" w="5745712">
                <a:moveTo>
                  <a:pt x="0" y="0"/>
                </a:moveTo>
                <a:lnTo>
                  <a:pt x="5745712" y="0"/>
                </a:lnTo>
                <a:lnTo>
                  <a:pt x="5745712" y="6556310"/>
                </a:lnTo>
                <a:lnTo>
                  <a:pt x="0" y="65563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47346" y="-3626464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8" y="0"/>
                </a:lnTo>
                <a:lnTo>
                  <a:pt x="6081308" y="5992530"/>
                </a:lnTo>
                <a:lnTo>
                  <a:pt x="0" y="5992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22393" y="1911293"/>
            <a:ext cx="17243215" cy="6526005"/>
            <a:chOff x="0" y="0"/>
            <a:chExt cx="4541423" cy="17187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41423" cy="1718783"/>
            </a:xfrm>
            <a:custGeom>
              <a:avLst/>
              <a:gdLst/>
              <a:ahLst/>
              <a:cxnLst/>
              <a:rect r="r" b="b" t="t" l="l"/>
              <a:pathLst>
                <a:path h="1718783" w="4541423">
                  <a:moveTo>
                    <a:pt x="15265" y="0"/>
                  </a:moveTo>
                  <a:lnTo>
                    <a:pt x="4526157" y="0"/>
                  </a:lnTo>
                  <a:cubicBezTo>
                    <a:pt x="4534588" y="0"/>
                    <a:pt x="4541423" y="6835"/>
                    <a:pt x="4541423" y="15265"/>
                  </a:cubicBezTo>
                  <a:lnTo>
                    <a:pt x="4541423" y="1703518"/>
                  </a:lnTo>
                  <a:cubicBezTo>
                    <a:pt x="4541423" y="1711948"/>
                    <a:pt x="4534588" y="1718783"/>
                    <a:pt x="4526157" y="1718783"/>
                  </a:cubicBezTo>
                  <a:lnTo>
                    <a:pt x="15265" y="1718783"/>
                  </a:lnTo>
                  <a:cubicBezTo>
                    <a:pt x="6835" y="1718783"/>
                    <a:pt x="0" y="1711948"/>
                    <a:pt x="0" y="1703518"/>
                  </a:cubicBezTo>
                  <a:lnTo>
                    <a:pt x="0" y="15265"/>
                  </a:lnTo>
                  <a:cubicBezTo>
                    <a:pt x="0" y="6835"/>
                    <a:pt x="6835" y="0"/>
                    <a:pt x="1526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541423" cy="1775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00602" y="4771709"/>
            <a:ext cx="699655" cy="69965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88855" y="4771709"/>
            <a:ext cx="699655" cy="69965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028471" y="2232716"/>
            <a:ext cx="12231059" cy="116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Kesimpulan dan Rekomendasi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55400" y="4714559"/>
            <a:ext cx="6384045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Persepsi publik terhadap Unand di ranah online cenderung positif, yang mendukung status akreditasi "Unggul".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0302" y="4823569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43653" y="4714559"/>
            <a:ext cx="6384045" cy="334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Rekomendasi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Pertama, metode ini bisa dipakai Unand untuk memonitor reputasi mereka secara real-time. Kedua, langkah selanjutnya yang paling logis adalah 'membedah' 623 sentimen negatif itu untuk mencari tahu: Apa topik yang paling banyak dikeluhkan? Apakah soal layanan, parkir, atau sistem informasi? Itulah data yang bisa ditindaklanjuti."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48556" y="4823569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3040654" y="7775425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8" y="0"/>
                </a:lnTo>
                <a:lnTo>
                  <a:pt x="6081308" y="5992529"/>
                </a:lnTo>
                <a:lnTo>
                  <a:pt x="0" y="5992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43576" y="1574260"/>
            <a:ext cx="6391487" cy="2937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4"/>
              </a:lnSpc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Rencana Penyelesaian Sampai 100%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624456" y="1726207"/>
            <a:ext cx="8634844" cy="6297948"/>
            <a:chOff x="0" y="0"/>
            <a:chExt cx="2274198" cy="1658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74198" cy="1658719"/>
            </a:xfrm>
            <a:custGeom>
              <a:avLst/>
              <a:gdLst/>
              <a:ahLst/>
              <a:cxnLst/>
              <a:rect r="r" b="b" t="t" l="l"/>
              <a:pathLst>
                <a:path h="1658719" w="2274198">
                  <a:moveTo>
                    <a:pt x="30484" y="0"/>
                  </a:moveTo>
                  <a:lnTo>
                    <a:pt x="2243714" y="0"/>
                  </a:lnTo>
                  <a:cubicBezTo>
                    <a:pt x="2251799" y="0"/>
                    <a:pt x="2259552" y="3212"/>
                    <a:pt x="2265269" y="8929"/>
                  </a:cubicBezTo>
                  <a:cubicBezTo>
                    <a:pt x="2270986" y="14645"/>
                    <a:pt x="2274198" y="22399"/>
                    <a:pt x="2274198" y="30484"/>
                  </a:cubicBezTo>
                  <a:lnTo>
                    <a:pt x="2274198" y="1628235"/>
                  </a:lnTo>
                  <a:cubicBezTo>
                    <a:pt x="2274198" y="1636320"/>
                    <a:pt x="2270986" y="1644073"/>
                    <a:pt x="2265269" y="1649790"/>
                  </a:cubicBezTo>
                  <a:cubicBezTo>
                    <a:pt x="2259552" y="1655507"/>
                    <a:pt x="2251799" y="1658719"/>
                    <a:pt x="2243714" y="1658719"/>
                  </a:cubicBezTo>
                  <a:lnTo>
                    <a:pt x="30484" y="1658719"/>
                  </a:lnTo>
                  <a:cubicBezTo>
                    <a:pt x="22399" y="1658719"/>
                    <a:pt x="14645" y="1655507"/>
                    <a:pt x="8929" y="1649790"/>
                  </a:cubicBezTo>
                  <a:cubicBezTo>
                    <a:pt x="3212" y="1644073"/>
                    <a:pt x="0" y="1636320"/>
                    <a:pt x="0" y="1628235"/>
                  </a:cubicBezTo>
                  <a:lnTo>
                    <a:pt x="0" y="30484"/>
                  </a:lnTo>
                  <a:cubicBezTo>
                    <a:pt x="0" y="22399"/>
                    <a:pt x="3212" y="14645"/>
                    <a:pt x="8929" y="8929"/>
                  </a:cubicBezTo>
                  <a:cubicBezTo>
                    <a:pt x="14645" y="3212"/>
                    <a:pt x="22399" y="0"/>
                    <a:pt x="3048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274198" cy="1715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904106" y="2621665"/>
            <a:ext cx="6650356" cy="3961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4"/>
              </a:lnSpc>
            </a:pPr>
            <a:r>
              <a:rPr lang="en-US" sz="3195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Persiapan Laporan Akhir</a:t>
            </a:r>
          </a:p>
          <a:p>
            <a:pPr algn="just">
              <a:lnSpc>
                <a:spcPts val="4474"/>
              </a:lnSpc>
            </a:pPr>
            <a:r>
              <a:rPr lang="en-US" sz="3195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Kurang lebih seperti ini :</a:t>
            </a:r>
          </a:p>
          <a:p>
            <a:pPr algn="just" marL="689965" indent="-344983" lvl="1">
              <a:lnSpc>
                <a:spcPts val="4474"/>
              </a:lnSpc>
              <a:buAutoNum type="arabicPeriod" startAt="1"/>
            </a:pPr>
            <a:r>
              <a:rPr lang="en-US" sz="3195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Pendahuluan</a:t>
            </a:r>
          </a:p>
          <a:p>
            <a:pPr algn="just" marL="689965" indent="-344983" lvl="1">
              <a:lnSpc>
                <a:spcPts val="4474"/>
              </a:lnSpc>
              <a:buAutoNum type="arabicPeriod" startAt="1"/>
            </a:pPr>
            <a:r>
              <a:rPr lang="en-US" sz="3195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Tinjauan Pustaka (Singkat)</a:t>
            </a:r>
          </a:p>
          <a:p>
            <a:pPr algn="just" marL="689965" indent="-344983" lvl="1">
              <a:lnSpc>
                <a:spcPts val="4474"/>
              </a:lnSpc>
              <a:buAutoNum type="arabicPeriod" startAt="1"/>
            </a:pPr>
            <a:r>
              <a:rPr lang="en-US" sz="3195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Metodologi</a:t>
            </a:r>
          </a:p>
          <a:p>
            <a:pPr algn="just" marL="689965" indent="-344983" lvl="1">
              <a:lnSpc>
                <a:spcPts val="4474"/>
              </a:lnSpc>
              <a:buAutoNum type="arabicPeriod" startAt="1"/>
            </a:pPr>
            <a:r>
              <a:rPr lang="en-US" sz="3195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Hasil &amp; Pembahasan</a:t>
            </a:r>
          </a:p>
          <a:p>
            <a:pPr algn="just" marL="689965" indent="-344983" lvl="1">
              <a:lnSpc>
                <a:spcPts val="4474"/>
              </a:lnSpc>
              <a:buAutoNum type="arabicPeriod" startAt="1"/>
            </a:pPr>
            <a:r>
              <a:rPr lang="en-US" sz="3195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Kesimpulan &amp; Rekomendasi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949308" y="2707390"/>
            <a:ext cx="699655" cy="6996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909008" y="2759250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943576" y="4462755"/>
            <a:ext cx="6204824" cy="5302304"/>
          </a:xfrm>
          <a:custGeom>
            <a:avLst/>
            <a:gdLst/>
            <a:ahLst/>
            <a:cxnLst/>
            <a:rect r="r" b="b" t="t" l="l"/>
            <a:pathLst>
              <a:path h="5302304" w="6204824">
                <a:moveTo>
                  <a:pt x="0" y="0"/>
                </a:moveTo>
                <a:lnTo>
                  <a:pt x="6204824" y="0"/>
                </a:lnTo>
                <a:lnTo>
                  <a:pt x="6204824" y="5302304"/>
                </a:lnTo>
                <a:lnTo>
                  <a:pt x="0" y="53023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771372" y="8824254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7" y="0"/>
                </a:lnTo>
                <a:lnTo>
                  <a:pt x="6081307" y="5992529"/>
                </a:lnTo>
                <a:lnTo>
                  <a:pt x="0" y="59925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2011954" y="-4456369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8" y="0"/>
                </a:lnTo>
                <a:lnTo>
                  <a:pt x="6081308" y="5992529"/>
                </a:lnTo>
                <a:lnTo>
                  <a:pt x="0" y="59925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04117" y="8148954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8" y="0"/>
                </a:lnTo>
                <a:lnTo>
                  <a:pt x="6081308" y="5992529"/>
                </a:lnTo>
                <a:lnTo>
                  <a:pt x="0" y="5992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6218" y="0"/>
                  </a:moveTo>
                  <a:lnTo>
                    <a:pt x="4258508" y="0"/>
                  </a:lnTo>
                  <a:cubicBezTo>
                    <a:pt x="4267465" y="0"/>
                    <a:pt x="4274726" y="7261"/>
                    <a:pt x="4274726" y="16218"/>
                  </a:cubicBezTo>
                  <a:lnTo>
                    <a:pt x="4274726" y="2151249"/>
                  </a:lnTo>
                  <a:cubicBezTo>
                    <a:pt x="4274726" y="2160206"/>
                    <a:pt x="4267465" y="2167467"/>
                    <a:pt x="4258508" y="2167467"/>
                  </a:cubicBezTo>
                  <a:lnTo>
                    <a:pt x="16218" y="2167467"/>
                  </a:lnTo>
                  <a:cubicBezTo>
                    <a:pt x="7261" y="2167467"/>
                    <a:pt x="0" y="2160206"/>
                    <a:pt x="0" y="2151249"/>
                  </a:cubicBezTo>
                  <a:lnTo>
                    <a:pt x="0" y="16218"/>
                  </a:lnTo>
                  <a:cubicBezTo>
                    <a:pt x="0" y="7261"/>
                    <a:pt x="7261" y="0"/>
                    <a:pt x="162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75491" y="3003203"/>
            <a:ext cx="9001576" cy="2438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12"/>
              </a:lnSpc>
              <a:spcBef>
                <a:spcPct val="0"/>
              </a:spcBef>
            </a:pPr>
            <a:r>
              <a:rPr lang="en-US" sz="14223" strike="noStrike" u="none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165512" y="3279428"/>
            <a:ext cx="5690498" cy="4573091"/>
          </a:xfrm>
          <a:custGeom>
            <a:avLst/>
            <a:gdLst/>
            <a:ahLst/>
            <a:cxnLst/>
            <a:rect r="r" b="b" t="t" l="l"/>
            <a:pathLst>
              <a:path h="4573091" w="5690498">
                <a:moveTo>
                  <a:pt x="0" y="0"/>
                </a:moveTo>
                <a:lnTo>
                  <a:pt x="5690498" y="0"/>
                </a:lnTo>
                <a:lnTo>
                  <a:pt x="5690498" y="4573091"/>
                </a:lnTo>
                <a:lnTo>
                  <a:pt x="0" y="45730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26952" y="-4360440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8" y="0"/>
                </a:lnTo>
                <a:lnTo>
                  <a:pt x="6081308" y="5992530"/>
                </a:lnTo>
                <a:lnTo>
                  <a:pt x="0" y="5992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75491" y="5654349"/>
            <a:ext cx="322093" cy="322093"/>
          </a:xfrm>
          <a:custGeom>
            <a:avLst/>
            <a:gdLst/>
            <a:ahLst/>
            <a:cxnLst/>
            <a:rect r="r" b="b" t="t" l="l"/>
            <a:pathLst>
              <a:path h="322093" w="322093">
                <a:moveTo>
                  <a:pt x="0" y="0"/>
                </a:moveTo>
                <a:lnTo>
                  <a:pt x="322093" y="0"/>
                </a:lnTo>
                <a:lnTo>
                  <a:pt x="322093" y="322093"/>
                </a:lnTo>
                <a:lnTo>
                  <a:pt x="0" y="3220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2175491" y="6278941"/>
            <a:ext cx="322093" cy="322093"/>
          </a:xfrm>
          <a:custGeom>
            <a:avLst/>
            <a:gdLst/>
            <a:ahLst/>
            <a:cxnLst/>
            <a:rect r="r" b="b" t="t" l="l"/>
            <a:pathLst>
              <a:path h="322093" w="322093">
                <a:moveTo>
                  <a:pt x="0" y="0"/>
                </a:moveTo>
                <a:lnTo>
                  <a:pt x="322093" y="0"/>
                </a:lnTo>
                <a:lnTo>
                  <a:pt x="322093" y="322093"/>
                </a:lnTo>
                <a:lnTo>
                  <a:pt x="0" y="3220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175491" y="6903533"/>
            <a:ext cx="322093" cy="322093"/>
          </a:xfrm>
          <a:custGeom>
            <a:avLst/>
            <a:gdLst/>
            <a:ahLst/>
            <a:cxnLst/>
            <a:rect r="r" b="b" t="t" l="l"/>
            <a:pathLst>
              <a:path h="322093" w="322093">
                <a:moveTo>
                  <a:pt x="0" y="0"/>
                </a:moveTo>
                <a:lnTo>
                  <a:pt x="322093" y="0"/>
                </a:lnTo>
                <a:lnTo>
                  <a:pt x="322093" y="322093"/>
                </a:lnTo>
                <a:lnTo>
                  <a:pt x="0" y="3220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2175491" y="7530426"/>
            <a:ext cx="322093" cy="322093"/>
          </a:xfrm>
          <a:custGeom>
            <a:avLst/>
            <a:gdLst/>
            <a:ahLst/>
            <a:cxnLst/>
            <a:rect r="r" b="b" t="t" l="l"/>
            <a:pathLst>
              <a:path h="322093" w="322093">
                <a:moveTo>
                  <a:pt x="0" y="0"/>
                </a:moveTo>
                <a:lnTo>
                  <a:pt x="322093" y="0"/>
                </a:lnTo>
                <a:lnTo>
                  <a:pt x="322093" y="322093"/>
                </a:lnTo>
                <a:lnTo>
                  <a:pt x="0" y="3220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80866" y="5502393"/>
            <a:ext cx="6947186" cy="243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6"/>
              </a:lnSpc>
            </a:pPr>
            <a:r>
              <a:rPr lang="en-US" sz="3462" b="true">
                <a:solidFill>
                  <a:srgbClr val="CD4146"/>
                </a:solidFill>
                <a:latin typeface="DM Sans Bold"/>
                <a:ea typeface="DM Sans Bold"/>
                <a:cs typeface="DM Sans Bold"/>
                <a:sym typeface="DM Sans Bold"/>
              </a:rPr>
              <a:t>+123-456-7890</a:t>
            </a:r>
          </a:p>
          <a:p>
            <a:pPr algn="l">
              <a:lnSpc>
                <a:spcPts val="4846"/>
              </a:lnSpc>
            </a:pPr>
            <a:r>
              <a:rPr lang="en-US" sz="3462" b="true">
                <a:solidFill>
                  <a:srgbClr val="CD4146"/>
                </a:solidFill>
                <a:latin typeface="DM Sans Bold"/>
                <a:ea typeface="DM Sans Bold"/>
                <a:cs typeface="DM Sans Bold"/>
                <a:sym typeface="DM Sans Bold"/>
              </a:rPr>
              <a:t>123 Anywhere St., Any City</a:t>
            </a:r>
          </a:p>
          <a:p>
            <a:pPr algn="l">
              <a:lnSpc>
                <a:spcPts val="4846"/>
              </a:lnSpc>
            </a:pPr>
            <a:r>
              <a:rPr lang="en-US" sz="3462" b="true">
                <a:solidFill>
                  <a:srgbClr val="CD4146"/>
                </a:solidFill>
                <a:latin typeface="DM Sans Bold"/>
                <a:ea typeface="DM Sans Bold"/>
                <a:cs typeface="DM Sans Bold"/>
                <a:sym typeface="DM Sans Bold"/>
              </a:rPr>
              <a:t>www.reallygreatsite.com</a:t>
            </a:r>
          </a:p>
          <a:p>
            <a:pPr algn="l">
              <a:lnSpc>
                <a:spcPts val="4846"/>
              </a:lnSpc>
            </a:pPr>
            <a:r>
              <a:rPr lang="en-US" sz="3462" b="true">
                <a:solidFill>
                  <a:srgbClr val="CD4146"/>
                </a:solidFill>
                <a:latin typeface="DM Sans Bold"/>
                <a:ea typeface="DM Sans Bold"/>
                <a:cs typeface="DM Sans Bold"/>
                <a:sym typeface="DM Sans Bold"/>
              </a:rPr>
              <a:t>hello@reallygreatsite.com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DAG4MTxqqqQ</dc:identifier>
  <dcterms:modified xsi:type="dcterms:W3CDTF">2011-08-01T06:04:30Z</dcterms:modified>
  <cp:revision>1</cp:revision>
  <dc:title>White and Red Illustrative Data Analysis Presentation</dc:title>
</cp:coreProperties>
</file>